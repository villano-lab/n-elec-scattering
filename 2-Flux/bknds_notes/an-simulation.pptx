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many primary decays (from </a:t>
            </a:r>
            <a:r>
              <a:rPr lang="en-US" baseline="30000" dirty="0"/>
              <a:t>232</a:t>
            </a:r>
            <a:r>
              <a:rPr lang="en-US" dirty="0"/>
              <a:t>Th) it takes to create 1 neutron.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the Cu volumes of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  <p:pic>
        <p:nvPicPr>
          <p:cNvPr id="10" name="Picture 9" descr="A graph of a graph&#10;&#10;AI-generated content may be incorrect.">
            <a:extLst>
              <a:ext uri="{FF2B5EF4-FFF2-40B4-BE49-F238E27FC236}">
                <a16:creationId xmlns:a16="http://schemas.microsoft.com/office/drawing/2014/main" id="{24B54C08-A2E9-07E0-165C-AAB7CF61A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32" y="251702"/>
            <a:ext cx="4255078" cy="371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2.85x10</a:t>
            </a:r>
            <a:r>
              <a:rPr lang="en-US" b="1" baseline="30000" dirty="0"/>
              <a:t>-11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739365" y="4147114"/>
            <a:ext cx="4087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NB: </a:t>
            </a:r>
            <a:r>
              <a:rPr lang="en-US" dirty="0">
                <a:solidFill>
                  <a:srgbClr val="C00000"/>
                </a:solidFill>
              </a:rPr>
              <a:t>In one year, 1 ppb contamination is equivalent to </a:t>
            </a:r>
            <a:r>
              <a:rPr lang="en-US" b="1" dirty="0">
                <a:solidFill>
                  <a:srgbClr val="C00000"/>
                </a:solidFill>
              </a:rPr>
              <a:t>0.00090 neutrons/cm</a:t>
            </a:r>
            <a:r>
              <a:rPr lang="en-US" b="1" baseline="30000" dirty="0">
                <a:solidFill>
                  <a:srgbClr val="C00000"/>
                </a:solidFill>
              </a:rPr>
              <a:t>3</a:t>
            </a:r>
            <a:r>
              <a:rPr lang="en-US" dirty="0">
                <a:solidFill>
                  <a:srgbClr val="C00000"/>
                </a:solidFill>
              </a:rPr>
              <a:t>. Equivalently, this corresponds to </a:t>
            </a:r>
            <a:r>
              <a:rPr lang="en-US" b="1" dirty="0">
                <a:solidFill>
                  <a:srgbClr val="C00000"/>
                </a:solidFill>
              </a:rPr>
              <a:t>1113 years </a:t>
            </a:r>
            <a:r>
              <a:rPr lang="en-US" dirty="0">
                <a:solidFill>
                  <a:srgbClr val="C00000"/>
                </a:solidFill>
              </a:rPr>
              <a:t>to get 1 neutron in each cm</a:t>
            </a:r>
            <a:r>
              <a:rPr lang="en-US" baseline="30000" dirty="0">
                <a:solidFill>
                  <a:srgbClr val="C00000"/>
                </a:solidFill>
              </a:rPr>
              <a:t>3</a:t>
            </a:r>
            <a:r>
              <a:rPr lang="en-US" dirty="0">
                <a:solidFill>
                  <a:srgbClr val="C00000"/>
                </a:solidFill>
              </a:rPr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5" y="1445740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it takes to get 1 neutron, that will be a benchmark because if we simulated the neutrons as a volumetric source, there would be a neutron for every primary simulated event.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295725-28C8-4946-EFD1-7F9544CE78D8}"/>
              </a:ext>
            </a:extLst>
          </p:cNvPr>
          <p:cNvSpPr txBox="1"/>
          <p:nvPr/>
        </p:nvSpPr>
        <p:spPr>
          <a:xfrm>
            <a:off x="5416384" y="3639283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will calculate it like this (the bottom number is just the number above in bold):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78075A-2CF2-F6DC-3D2A-FCBA2CC9150C}"/>
              </a:ext>
            </a:extLst>
          </p:cNvPr>
          <p:cNvCxnSpPr/>
          <p:nvPr/>
        </p:nvCxnSpPr>
        <p:spPr>
          <a:xfrm>
            <a:off x="5975498" y="4989763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E18D36-1900-A1E2-9473-27F5523D481D}"/>
              </a:ext>
            </a:extLst>
          </p:cNvPr>
          <p:cNvSpPr txBox="1"/>
          <p:nvPr/>
        </p:nvSpPr>
        <p:spPr>
          <a:xfrm>
            <a:off x="6613423" y="4516446"/>
            <a:ext cx="3285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decays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3C868F-E717-4DA0-03B5-049EDC06195D}"/>
              </a:ext>
            </a:extLst>
          </p:cNvPr>
          <p:cNvSpPr txBox="1"/>
          <p:nvPr/>
        </p:nvSpPr>
        <p:spPr>
          <a:xfrm>
            <a:off x="6273868" y="5042928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pic>
        <p:nvPicPr>
          <p:cNvPr id="13" name="Picture 12" descr="A graph of a graph&#10;&#10;AI-generated content may be incorrect.">
            <a:extLst>
              <a:ext uri="{FF2B5EF4-FFF2-40B4-BE49-F238E27FC236}">
                <a16:creationId xmlns:a16="http://schemas.microsoft.com/office/drawing/2014/main" id="{E8D2F464-216C-71FC-1097-3E4BDF7C6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01" y="251685"/>
            <a:ext cx="4255078" cy="371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per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 per cm</a:t>
            </a:r>
            <a:r>
              <a:rPr lang="en-US" baseline="30000" dirty="0"/>
              <a:t>3 </a:t>
            </a:r>
            <a:r>
              <a:rPr lang="en-US" dirty="0"/>
              <a:t>per ppb. Given that, we can use the decay equation to compute the denominator on the previous page.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6" y="2194743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429000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6" y="1489572"/>
                <a:ext cx="6318267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6" y="1489572"/>
                <a:ext cx="6318267" cy="5040098"/>
              </a:xfrm>
              <a:prstGeom prst="rect">
                <a:avLst/>
              </a:prstGeom>
              <a:blipFill>
                <a:blip r:embed="rId3"/>
                <a:stretch>
                  <a:fillRect l="-802" t="-503" r="-6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. That gives </a:t>
            </a:r>
            <a:r>
              <a:rPr lang="en-US" b="1" dirty="0"/>
              <a:t>4,911 decays /year/cm3/ppb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63255F-2A0D-31FB-FA59-C2904C996856}"/>
              </a:ext>
            </a:extLst>
          </p:cNvPr>
          <p:cNvSpPr txBox="1"/>
          <p:nvPr/>
        </p:nvSpPr>
        <p:spPr>
          <a:xfrm>
            <a:off x="5416386" y="1502182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Converting to per second gives: </a:t>
            </a:r>
            <a:r>
              <a:rPr lang="en-US" b="1" dirty="0"/>
              <a:t>1.56x10</a:t>
            </a:r>
            <a:r>
              <a:rPr lang="en-US" b="1" baseline="30000" dirty="0"/>
              <a:t>-4 </a:t>
            </a:r>
            <a:r>
              <a:rPr lang="en-US" b="1" dirty="0"/>
              <a:t>decays /s/cm</a:t>
            </a:r>
            <a:r>
              <a:rPr lang="en-US" b="1" baseline="30000" dirty="0"/>
              <a:t>3</a:t>
            </a:r>
            <a:r>
              <a:rPr lang="en-US" b="1" dirty="0"/>
              <a:t>/ppb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C953F-5AD0-7121-2193-453629293BA7}"/>
              </a:ext>
            </a:extLst>
          </p:cNvPr>
          <p:cNvSpPr txBox="1"/>
          <p:nvPr/>
        </p:nvSpPr>
        <p:spPr>
          <a:xfrm>
            <a:off x="5483726" y="2138867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we can apply it to the equation: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B27FC5-C273-F3D9-48A2-BE7380405609}"/>
              </a:ext>
            </a:extLst>
          </p:cNvPr>
          <p:cNvCxnSpPr/>
          <p:nvPr/>
        </p:nvCxnSpPr>
        <p:spPr>
          <a:xfrm>
            <a:off x="6293669" y="3248869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704B291-8009-690A-B3F3-77C9553DC9FD}"/>
              </a:ext>
            </a:extLst>
          </p:cNvPr>
          <p:cNvSpPr txBox="1"/>
          <p:nvPr/>
        </p:nvSpPr>
        <p:spPr>
          <a:xfrm>
            <a:off x="6931594" y="2775552"/>
            <a:ext cx="3285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decays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CD7A9-6C5A-AB24-22FE-380944E9614C}"/>
              </a:ext>
            </a:extLst>
          </p:cNvPr>
          <p:cNvSpPr txBox="1"/>
          <p:nvPr/>
        </p:nvSpPr>
        <p:spPr>
          <a:xfrm>
            <a:off x="6592039" y="3302034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87C4C6-1045-21DF-182B-76D959ABCC5A}"/>
              </a:ext>
            </a:extLst>
          </p:cNvPr>
          <p:cNvCxnSpPr/>
          <p:nvPr/>
        </p:nvCxnSpPr>
        <p:spPr>
          <a:xfrm>
            <a:off x="6453963" y="4553828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D630323-3B21-F100-210D-4F08C5B914E5}"/>
              </a:ext>
            </a:extLst>
          </p:cNvPr>
          <p:cNvSpPr txBox="1"/>
          <p:nvPr/>
        </p:nvSpPr>
        <p:spPr>
          <a:xfrm>
            <a:off x="7113154" y="4080511"/>
            <a:ext cx="3120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1.56x10</a:t>
            </a:r>
            <a:r>
              <a:rPr lang="en-US" b="1" baseline="30000" dirty="0"/>
              <a:t>-4 </a:t>
            </a:r>
            <a:r>
              <a:rPr lang="en-US" b="1" dirty="0"/>
              <a:t>decays 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CC2125-66DE-FC79-0EB5-A06CFC801587}"/>
              </a:ext>
            </a:extLst>
          </p:cNvPr>
          <p:cNvSpPr txBox="1"/>
          <p:nvPr/>
        </p:nvSpPr>
        <p:spPr>
          <a:xfrm>
            <a:off x="7103210" y="4606993"/>
            <a:ext cx="3360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2.85x10</a:t>
            </a:r>
            <a:r>
              <a:rPr lang="en-US" b="1" baseline="30000" dirty="0"/>
              <a:t>-11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6A88A7-AAF4-D2DB-53C1-291272957596}"/>
              </a:ext>
            </a:extLst>
          </p:cNvPr>
          <p:cNvSpPr txBox="1"/>
          <p:nvPr/>
        </p:nvSpPr>
        <p:spPr>
          <a:xfrm>
            <a:off x="5416386" y="5674121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get: </a:t>
            </a:r>
            <a:r>
              <a:rPr lang="en-US" dirty="0">
                <a:solidFill>
                  <a:srgbClr val="C00000"/>
                </a:solidFill>
              </a:rPr>
              <a:t>5,403,509 decays/neutron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F42C-1BA4-F841-CD9A-1C65E60D3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625F8CD-3448-BD23-75DE-A52867218956}"/>
              </a:ext>
            </a:extLst>
          </p:cNvPr>
          <p:cNvSpPr txBox="1"/>
          <p:nvPr/>
        </p:nvSpPr>
        <p:spPr>
          <a:xfrm>
            <a:off x="5416386" y="588498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Spontaneous fission is also a contributor to neutrons. Th has very little S.F. but </a:t>
            </a:r>
            <a:r>
              <a:rPr lang="en-US" baseline="30000" dirty="0"/>
              <a:t>238</a:t>
            </a:r>
            <a:r>
              <a:rPr lang="en-US" dirty="0"/>
              <a:t>U has a lot more (see left, branching of </a:t>
            </a:r>
            <a:r>
              <a:rPr lang="en-US" b="1" dirty="0"/>
              <a:t>5.4x10</a:t>
            </a:r>
            <a:r>
              <a:rPr lang="en-US" b="1" baseline="30000" dirty="0"/>
              <a:t>-5</a:t>
            </a:r>
            <a:r>
              <a:rPr lang="en-US" b="1" dirty="0"/>
              <a:t> % </a:t>
            </a:r>
            <a:r>
              <a:rPr lang="en-US" dirty="0"/>
              <a:t>compare with </a:t>
            </a:r>
            <a:r>
              <a:rPr lang="en-US" b="1" dirty="0"/>
              <a:t>~10</a:t>
            </a:r>
            <a:r>
              <a:rPr lang="en-US" b="1" baseline="30000" dirty="0"/>
              <a:t>-9</a:t>
            </a:r>
            <a:r>
              <a:rPr lang="en-US" b="1" dirty="0"/>
              <a:t> % </a:t>
            </a:r>
            <a:r>
              <a:rPr lang="en-US" dirty="0"/>
              <a:t>for Th).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9849FA-65CD-FD19-EA1B-1160777C8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446568"/>
            <a:ext cx="3879573" cy="385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1D424-B0DC-F8D9-6025-D768A9931FD7}"/>
              </a:ext>
            </a:extLst>
          </p:cNvPr>
          <p:cNvSpPr txBox="1"/>
          <p:nvPr/>
        </p:nvSpPr>
        <p:spPr>
          <a:xfrm>
            <a:off x="5416386" y="1920989"/>
            <a:ext cx="63182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fact, our </a:t>
            </a:r>
            <a:r>
              <a:rPr lang="en-US" dirty="0" err="1"/>
              <a:t>radiogenics</a:t>
            </a:r>
            <a:r>
              <a:rPr lang="en-US" dirty="0"/>
              <a:t> are probably dominated by spontaneous fission of </a:t>
            </a:r>
            <a:r>
              <a:rPr lang="en-US" baseline="30000" dirty="0"/>
              <a:t>238</a:t>
            </a:r>
            <a:r>
              <a:rPr lang="en-US" dirty="0"/>
              <a:t>U. This could be simulated natively in </a:t>
            </a:r>
            <a:r>
              <a:rPr lang="en-US" dirty="0" err="1"/>
              <a:t>SuperSim</a:t>
            </a:r>
            <a:r>
              <a:rPr lang="en-US" dirty="0"/>
              <a:t> as well, if G4 has accurate S.F. simulation. I want to estimate how many decays we need for this one. </a:t>
            </a:r>
          </a:p>
        </p:txBody>
      </p:sp>
    </p:spTree>
    <p:extLst>
      <p:ext uri="{BB962C8B-B14F-4D97-AF65-F5344CB8AC3E}">
        <p14:creationId xmlns:p14="http://schemas.microsoft.com/office/powerpoint/2010/main" val="1887807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F615-3B31-3209-18A0-8C6F1F4A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B75844F-F5DB-D2A7-2868-846F56A223D0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 for </a:t>
            </a:r>
            <a:r>
              <a:rPr lang="en-US" baseline="30000" dirty="0"/>
              <a:t>238</a:t>
            </a:r>
            <a:r>
              <a:rPr lang="en-US" dirty="0"/>
              <a:t>U S.F., I get a total volumetric source rate of </a:t>
            </a:r>
            <a:r>
              <a:rPr lang="en-US" b="1" dirty="0"/>
              <a:t>5.37x10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B26FC4-21C5-9ADF-B821-5B5552FB08BF}"/>
              </a:ext>
            </a:extLst>
          </p:cNvPr>
          <p:cNvSpPr txBox="1"/>
          <p:nvPr/>
        </p:nvSpPr>
        <p:spPr>
          <a:xfrm>
            <a:off x="5416386" y="1492265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same calculation as before: based on the density of Cu, and the level of 1 ppb, the number of </a:t>
            </a:r>
            <a:r>
              <a:rPr lang="en-US" baseline="30000" dirty="0"/>
              <a:t>238</a:t>
            </a:r>
            <a:r>
              <a:rPr lang="en-US" dirty="0"/>
              <a:t>U atoms present in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r>
              <a:rPr lang="en-US" dirty="0"/>
              <a:t>. </a:t>
            </a:r>
          </a:p>
        </p:txBody>
      </p:sp>
      <p:pic>
        <p:nvPicPr>
          <p:cNvPr id="13" name="Picture 12" descr="A graph of a graph with a line and numbers&#10;&#10;AI-generated content may be incorrect.">
            <a:extLst>
              <a:ext uri="{FF2B5EF4-FFF2-40B4-BE49-F238E27FC236}">
                <a16:creationId xmlns:a16="http://schemas.microsoft.com/office/drawing/2014/main" id="{EDCD6935-35FB-A628-B33E-FEBD40D95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98" y="610227"/>
            <a:ext cx="4451875" cy="389607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C29CF4-F45B-57FF-76D9-780CCA411FDF}"/>
                  </a:ext>
                </a:extLst>
              </p:cNvPr>
              <p:cNvSpPr txBox="1"/>
              <p:nvPr/>
            </p:nvSpPr>
            <p:spPr>
              <a:xfrm>
                <a:off x="5416386" y="2566630"/>
                <a:ext cx="6318267" cy="1916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But now we got to use the </a:t>
                </a:r>
                <a:r>
                  <a:rPr lang="en-US" dirty="0" err="1"/>
                  <a:t>halflife</a:t>
                </a:r>
                <a:r>
                  <a:rPr lang="en-US" dirty="0"/>
                  <a:t> of </a:t>
                </a:r>
                <a:r>
                  <a:rPr lang="en-US" baseline="30000" dirty="0"/>
                  <a:t>238</a:t>
                </a:r>
                <a:r>
                  <a:rPr lang="en-US" dirty="0"/>
                  <a:t>U. 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r>
                  <a:rPr lang="en-US" dirty="0"/>
                  <a:t>For 1 yr the exponential factor in the parentheses is </a:t>
                </a:r>
                <a:r>
                  <a:rPr lang="en-US" b="1" dirty="0"/>
                  <a:t>1.55x10</a:t>
                </a:r>
                <a:r>
                  <a:rPr lang="en-US" b="1" baseline="30000" dirty="0"/>
                  <a:t>-10</a:t>
                </a:r>
                <a:r>
                  <a:rPr lang="en-US" dirty="0"/>
                  <a:t>.</a:t>
                </a:r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C29CF4-F45B-57FF-76D9-780CCA411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6" y="2566630"/>
                <a:ext cx="6318267" cy="1916230"/>
              </a:xfrm>
              <a:prstGeom prst="rect">
                <a:avLst/>
              </a:prstGeom>
              <a:blipFill>
                <a:blip r:embed="rId3"/>
                <a:stretch>
                  <a:fillRect l="-802" t="-1325" b="-4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64C51A6-B1A7-C4EB-35B0-AFE0F13C2774}"/>
              </a:ext>
            </a:extLst>
          </p:cNvPr>
          <p:cNvSpPr txBox="1"/>
          <p:nvPr/>
        </p:nvSpPr>
        <p:spPr>
          <a:xfrm>
            <a:off x="5416386" y="4633895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That gives 15,526 decays /yr/cm</a:t>
            </a:r>
            <a:r>
              <a:rPr lang="en-US" baseline="30000" dirty="0"/>
              <a:t>3</a:t>
            </a:r>
            <a:r>
              <a:rPr lang="en-US" dirty="0"/>
              <a:t>/ppb, but S.F. is only 5.44x10</a:t>
            </a:r>
            <a:r>
              <a:rPr lang="en-US" baseline="30000" dirty="0"/>
              <a:t>-5 </a:t>
            </a:r>
            <a:r>
              <a:rPr lang="en-US" dirty="0"/>
              <a:t>% , so that is 8.4 S.F. /yr/cm</a:t>
            </a:r>
            <a:r>
              <a:rPr lang="en-US" baseline="30000" dirty="0"/>
              <a:t>3</a:t>
            </a:r>
            <a:r>
              <a:rPr lang="en-US" dirty="0"/>
              <a:t>/ppb. Or:</a:t>
            </a:r>
          </a:p>
          <a:p>
            <a:r>
              <a:rPr lang="en-US" dirty="0"/>
              <a:t> </a:t>
            </a:r>
            <a:r>
              <a:rPr lang="en-US" b="1" dirty="0"/>
              <a:t>2.68x10</a:t>
            </a:r>
            <a:r>
              <a:rPr lang="en-US" b="1" baseline="30000" dirty="0"/>
              <a:t>-10</a:t>
            </a:r>
            <a:r>
              <a:rPr lang="en-US" b="1" dirty="0"/>
              <a:t> S.F. 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</a:p>
        </p:txBody>
      </p:sp>
    </p:spTree>
    <p:extLst>
      <p:ext uri="{BB962C8B-B14F-4D97-AF65-F5344CB8AC3E}">
        <p14:creationId xmlns:p14="http://schemas.microsoft.com/office/powerpoint/2010/main" val="926934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6E18-DCDF-416F-A827-A1263E39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a graph with a line and numbers&#10;&#10;AI-generated content may be incorrect.">
            <a:extLst>
              <a:ext uri="{FF2B5EF4-FFF2-40B4-BE49-F238E27FC236}">
                <a16:creationId xmlns:a16="http://schemas.microsoft.com/office/drawing/2014/main" id="{19BDA35C-3E38-441E-5C6F-62FC5F536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98" y="610227"/>
            <a:ext cx="4451875" cy="38960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5171DE9-616C-0835-2581-FD58A0824403}"/>
              </a:ext>
            </a:extLst>
          </p:cNvPr>
          <p:cNvSpPr txBox="1"/>
          <p:nvPr/>
        </p:nvSpPr>
        <p:spPr>
          <a:xfrm>
            <a:off x="5419931" y="578274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we can apply it to the equation: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030D5F-BC75-5227-C01A-C8CD5911C8FF}"/>
              </a:ext>
            </a:extLst>
          </p:cNvPr>
          <p:cNvCxnSpPr/>
          <p:nvPr/>
        </p:nvCxnSpPr>
        <p:spPr>
          <a:xfrm>
            <a:off x="6229874" y="1688276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9E49067-4001-7D56-D8C0-D621A2FC71CF}"/>
              </a:ext>
            </a:extLst>
          </p:cNvPr>
          <p:cNvSpPr txBox="1"/>
          <p:nvPr/>
        </p:nvSpPr>
        <p:spPr>
          <a:xfrm>
            <a:off x="6867799" y="1214959"/>
            <a:ext cx="2928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S.F.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13B8C8-2A45-8378-03B6-2DF5B64C79CD}"/>
              </a:ext>
            </a:extLst>
          </p:cNvPr>
          <p:cNvSpPr txBox="1"/>
          <p:nvPr/>
        </p:nvSpPr>
        <p:spPr>
          <a:xfrm>
            <a:off x="6528244" y="1741441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F36F4A-69DA-7566-919E-D5883AFEA22D}"/>
              </a:ext>
            </a:extLst>
          </p:cNvPr>
          <p:cNvCxnSpPr/>
          <p:nvPr/>
        </p:nvCxnSpPr>
        <p:spPr>
          <a:xfrm>
            <a:off x="6390168" y="2993235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33E825A-0983-65B3-922B-E2175DE73039}"/>
              </a:ext>
            </a:extLst>
          </p:cNvPr>
          <p:cNvSpPr txBox="1"/>
          <p:nvPr/>
        </p:nvSpPr>
        <p:spPr>
          <a:xfrm>
            <a:off x="7049359" y="2519918"/>
            <a:ext cx="282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2.68x10</a:t>
            </a:r>
            <a:r>
              <a:rPr lang="en-US" b="1" baseline="30000" dirty="0"/>
              <a:t>-10 </a:t>
            </a:r>
            <a:r>
              <a:rPr lang="en-US" b="1" dirty="0"/>
              <a:t>S.F. 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75710D-5344-CB7B-1718-2ADED8F0F44B}"/>
              </a:ext>
            </a:extLst>
          </p:cNvPr>
          <p:cNvSpPr txBox="1"/>
          <p:nvPr/>
        </p:nvSpPr>
        <p:spPr>
          <a:xfrm>
            <a:off x="7039415" y="3046400"/>
            <a:ext cx="3360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5.37x10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b="1" dirty="0"/>
              <a:t>/ppb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860505-A756-162B-F077-1C8DC1FC1F2A}"/>
              </a:ext>
            </a:extLst>
          </p:cNvPr>
          <p:cNvSpPr txBox="1"/>
          <p:nvPr/>
        </p:nvSpPr>
        <p:spPr>
          <a:xfrm>
            <a:off x="5352591" y="4113528"/>
            <a:ext cx="63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get: </a:t>
            </a:r>
            <a:r>
              <a:rPr lang="en-US" dirty="0">
                <a:solidFill>
                  <a:srgbClr val="C00000"/>
                </a:solidFill>
              </a:rPr>
              <a:t>0.499 S.F./neutron </a:t>
            </a:r>
            <a:r>
              <a:rPr lang="en-US" dirty="0"/>
              <a:t>or around </a:t>
            </a:r>
            <a:r>
              <a:rPr lang="en-US" dirty="0">
                <a:solidFill>
                  <a:srgbClr val="C00000"/>
                </a:solidFill>
              </a:rPr>
              <a:t>2.0 neutrons/S.F.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6480C0-C0E3-F9DD-8DB0-59ECB463A919}"/>
              </a:ext>
            </a:extLst>
          </p:cNvPr>
          <p:cNvSpPr txBox="1"/>
          <p:nvPr/>
        </p:nvSpPr>
        <p:spPr>
          <a:xfrm>
            <a:off x="5384489" y="4934879"/>
            <a:ext cx="63182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number is much more feasible than the (</a:t>
            </a:r>
            <a:r>
              <a:rPr lang="en-US" dirty="0" err="1"/>
              <a:t>a,n</a:t>
            </a:r>
            <a:r>
              <a:rPr lang="en-US" dirty="0"/>
              <a:t>), and it roughly aligns with how many neutrons expected from fission. We might in this case worry, however, that S.F. in G4 is modelled correctly—especially the correlations in neutrons emitted. </a:t>
            </a:r>
            <a:r>
              <a:rPr lang="en-US" dirty="0">
                <a:solidFill>
                  <a:srgbClr val="C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3040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2614</TotalTime>
  <Words>1011</Words>
  <Application>Microsoft Macintosh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101</cp:revision>
  <dcterms:created xsi:type="dcterms:W3CDTF">2026-01-28T22:42:52Z</dcterms:created>
  <dcterms:modified xsi:type="dcterms:W3CDTF">2026-01-30T18:16:59Z</dcterms:modified>
</cp:coreProperties>
</file>