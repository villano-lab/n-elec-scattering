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58"/>
  </p:normalViewPr>
  <p:slideViewPr>
    <p:cSldViewPr snapToGrid="0">
      <p:cViewPr varScale="1">
        <p:scale>
          <a:sx n="120" d="100"/>
          <a:sy n="120" d="100"/>
        </p:scale>
        <p:origin x="2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11E7D-2F50-8C1C-E7A9-DDEA1985A6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F42075-CEAE-352B-E8C0-A05A363464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F8B12-3A78-0C3E-45F5-12F99DD74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84EE73-1FB7-F92A-AD17-93EA50E63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899B03-6F60-F8AA-1D6C-A92D47D7C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379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5ABA3-0E31-614E-F425-1F00F295F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9F13E9-FC63-E8BD-67A7-E738195064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1D7AEA-8B25-FF00-4FF6-9261F3E19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ACC8AD-6E99-757B-6038-CC4C4CC40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0037B7-1570-76A4-7A46-E0288A97F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531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E1A6C-A3F1-7F3C-C760-EE6595888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F268B-3ACF-AEC7-85B9-8B9F8CD4C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E72260-E0F8-B489-E198-7FB284875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D425B3-9038-0B35-8C32-C5FEBF641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019B1-3518-131E-8CA8-316AC02FC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499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78A7C-137F-E58F-D337-902CC6068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B56AE3-7B1B-E5FD-224C-DAD8EB92C4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414546-A629-D878-9FF8-12C9EB5AD5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358BE8-DD82-6D91-36A5-B7959EBAF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78E4DF-8151-7B4D-5817-3D2AB0170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9D7C64-9EAF-A523-7474-CF3ACEA45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576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22118-D932-2000-E97F-835FA572C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A4E64D-D33B-42C8-9FB7-3D079340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6D3992-3BDA-149F-E5FA-8FAD4C1D7E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22DFA3-A758-33DC-DD7D-2835A179CA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049934-E9AA-71AA-B80F-7A1C49B693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AFE4B6-2651-5292-A5C0-CF6D069AD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C4DAA4-0CD0-7421-7907-58C04606D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A0B83B-C90C-DE5A-5B28-952096F7E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791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83F69-C97B-C35A-E903-2B77EBD3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E33D6B-D6D8-7AC3-51AD-E8192F888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D78FB2-BAF7-7B2F-B94C-1A3C87EAB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9C1C45-B303-6FA2-19E1-0FD5C3694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27076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910ADC-154E-4DBD-655E-B34D90B34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E17D8E-91D2-FF43-DDF3-EF4CE0109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8DEA75-2D56-ABCA-0659-316B9977A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2974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3CBB4-DF8A-F478-7ED1-2C046A05C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E2ACFA-C621-E921-8F67-F1D56635CF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58D801-53ED-5B4A-1195-1C74C55395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E4E378-2CE8-0618-97DE-44BE4E00E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355C91-D516-5A7A-55D0-EE5B5C4E4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00D864-5451-3006-0A80-0C203D7DB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6568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E7780-0458-E8EA-D559-E7D1E2796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FE5D31-12BA-7BC6-0779-9E196B9812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A06F3B-1F8D-9614-C0B9-B3D018AF2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6003E3-8101-BE02-DBA4-F108A43C5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A9B7AE-574B-A2A0-85BB-6D76F220C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43147E-012C-AA66-FC2A-32B14AF9E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65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C6428-9DBA-6269-60B3-F6AE55B40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8150D3-37B9-B891-B843-B6849A279C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796543-AF44-AE33-E24F-0F18AF63E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50FDE-3189-A848-5371-002684A08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9B94C4-C9F8-D3E9-DF6A-EB28DED88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368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817028-6F29-7546-2697-C6D086065D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935F34-C3F0-E811-03A9-43B1E76539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9A72F-B5B4-9E17-F783-5A1BCC07A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8A077C-F75A-5C95-91CF-B6B4E0E22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E667B-B2F9-1DBC-1BDA-A12C11372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676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32A184-83B7-DBD8-FD45-C5112D7BC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649838-4D98-14D8-81A7-8464905615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E79814-C3A5-A4B7-0C26-EA14400544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1D23C5-F55E-9A4C-AAE2-FD966869692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0D652E-DC40-D871-7CD6-503ABDF4CB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C68474-8485-44E8-EECC-DC4B93E44B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792A48-EF13-6C45-82FB-70C045069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871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graph&#10;&#10;AI-generated content may be incorrect.">
            <a:extLst>
              <a:ext uri="{FF2B5EF4-FFF2-40B4-BE49-F238E27FC236}">
                <a16:creationId xmlns:a16="http://schemas.microsoft.com/office/drawing/2014/main" id="{1A1327F9-6815-D9BC-FED4-2A05FF8814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934" y="492370"/>
            <a:ext cx="3661863" cy="31469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7DE996-DF1E-3C97-7B73-4E320C5E44F1}"/>
              </a:ext>
            </a:extLst>
          </p:cNvPr>
          <p:cNvSpPr txBox="1"/>
          <p:nvPr/>
        </p:nvSpPr>
        <p:spPr>
          <a:xfrm>
            <a:off x="5373858" y="759655"/>
            <a:ext cx="6189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the neutron volumetric spectrum that SOURCES 4A (mod) predicts for Copper with 1 ppb Th contamination.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C0B1A1-4507-C290-9304-06B7CAFF45C8}"/>
              </a:ext>
            </a:extLst>
          </p:cNvPr>
          <p:cNvSpPr txBox="1"/>
          <p:nvPr/>
        </p:nvSpPr>
        <p:spPr>
          <a:xfrm>
            <a:off x="5373857" y="1911515"/>
            <a:ext cx="6189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want to use this to find out how many primary decays (from </a:t>
            </a:r>
            <a:r>
              <a:rPr lang="en-US" baseline="30000" dirty="0"/>
              <a:t>232</a:t>
            </a:r>
            <a:r>
              <a:rPr lang="en-US" dirty="0"/>
              <a:t>Th) it takes to create 1 neutron.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E26518-7CFE-3176-C902-DF24E868F471}"/>
              </a:ext>
            </a:extLst>
          </p:cNvPr>
          <p:cNvSpPr txBox="1"/>
          <p:nvPr/>
        </p:nvSpPr>
        <p:spPr>
          <a:xfrm>
            <a:off x="5373856" y="3177618"/>
            <a:ext cx="618978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Producing 1 neutron in the Cu volumes of </a:t>
            </a:r>
            <a:r>
              <a:rPr lang="en-US" dirty="0" err="1"/>
              <a:t>SuperCDMS</a:t>
            </a:r>
            <a:r>
              <a:rPr lang="en-US" dirty="0"/>
              <a:t> will obviously not amount to many registered interactions in the detectors. Many will not hit the detectors at all. However, we could test this by creating a volumetric neutron source in the Cu of </a:t>
            </a:r>
            <a:r>
              <a:rPr lang="en-US" dirty="0" err="1"/>
              <a:t>SuperSim</a:t>
            </a:r>
            <a:r>
              <a:rPr lang="en-US" dirty="0"/>
              <a:t>.  </a:t>
            </a:r>
          </a:p>
        </p:txBody>
      </p:sp>
    </p:spTree>
    <p:extLst>
      <p:ext uri="{BB962C8B-B14F-4D97-AF65-F5344CB8AC3E}">
        <p14:creationId xmlns:p14="http://schemas.microsoft.com/office/powerpoint/2010/main" val="2209313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008FD-0BE9-F4B6-00FD-FC1AA49A5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graph&#10;&#10;AI-generated content may be incorrect.">
            <a:extLst>
              <a:ext uri="{FF2B5EF4-FFF2-40B4-BE49-F238E27FC236}">
                <a16:creationId xmlns:a16="http://schemas.microsoft.com/office/drawing/2014/main" id="{4DB9C73D-B092-F93C-3407-74EEE5345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934" y="492370"/>
            <a:ext cx="3661863" cy="314691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615C696-8199-D357-DA08-C9C6ECACDC07}"/>
              </a:ext>
            </a:extLst>
          </p:cNvPr>
          <p:cNvSpPr txBox="1"/>
          <p:nvPr/>
        </p:nvSpPr>
        <p:spPr>
          <a:xfrm>
            <a:off x="5416386" y="588498"/>
            <a:ext cx="6189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Integrating this spectrum, I get a total volumetric source rate of </a:t>
            </a:r>
            <a:r>
              <a:rPr lang="en-US" b="1" dirty="0"/>
              <a:t>1.81x10</a:t>
            </a:r>
            <a:r>
              <a:rPr lang="en-US" b="1" baseline="30000" dirty="0"/>
              <a:t>-10</a:t>
            </a:r>
            <a:r>
              <a:rPr lang="en-US" b="1" dirty="0"/>
              <a:t> neutrons/s/cm</a:t>
            </a:r>
            <a:r>
              <a:rPr lang="en-US" b="1" baseline="30000" dirty="0"/>
              <a:t>3</a:t>
            </a:r>
            <a:r>
              <a:rPr lang="en-US" dirty="0"/>
              <a:t>.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5053B1-5AC1-39A0-55DC-6F6471E86991}"/>
              </a:ext>
            </a:extLst>
          </p:cNvPr>
          <p:cNvSpPr txBox="1"/>
          <p:nvPr/>
        </p:nvSpPr>
        <p:spPr>
          <a:xfrm>
            <a:off x="739365" y="4147114"/>
            <a:ext cx="40878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NB: </a:t>
            </a:r>
            <a:r>
              <a:rPr lang="en-US" dirty="0">
                <a:solidFill>
                  <a:srgbClr val="C00000"/>
                </a:solidFill>
              </a:rPr>
              <a:t>In one year, 1 ppb contamination is equivalent to </a:t>
            </a:r>
            <a:r>
              <a:rPr lang="en-US" b="1" dirty="0">
                <a:solidFill>
                  <a:srgbClr val="C00000"/>
                </a:solidFill>
              </a:rPr>
              <a:t>0.0057 neutrons/cm</a:t>
            </a:r>
            <a:r>
              <a:rPr lang="en-US" b="1" baseline="30000" dirty="0">
                <a:solidFill>
                  <a:srgbClr val="C00000"/>
                </a:solidFill>
              </a:rPr>
              <a:t>3</a:t>
            </a:r>
            <a:r>
              <a:rPr lang="en-US" dirty="0">
                <a:solidFill>
                  <a:srgbClr val="C00000"/>
                </a:solidFill>
              </a:rPr>
              <a:t>. Equivalently, this corresponds to </a:t>
            </a:r>
            <a:r>
              <a:rPr lang="en-US" b="1" dirty="0">
                <a:solidFill>
                  <a:srgbClr val="C00000"/>
                </a:solidFill>
              </a:rPr>
              <a:t>175 years </a:t>
            </a:r>
            <a:r>
              <a:rPr lang="en-US" dirty="0">
                <a:solidFill>
                  <a:srgbClr val="C00000"/>
                </a:solidFill>
              </a:rPr>
              <a:t>to get 1 neutron in each cm</a:t>
            </a:r>
            <a:r>
              <a:rPr lang="en-US" baseline="30000" dirty="0">
                <a:solidFill>
                  <a:srgbClr val="C00000"/>
                </a:solidFill>
              </a:rPr>
              <a:t>3</a:t>
            </a:r>
            <a:r>
              <a:rPr lang="en-US" dirty="0">
                <a:solidFill>
                  <a:srgbClr val="C00000"/>
                </a:solidFill>
              </a:rPr>
              <a:t>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3DDE28-944F-7C7C-6D20-72272F38B8E1}"/>
              </a:ext>
            </a:extLst>
          </p:cNvPr>
          <p:cNvSpPr txBox="1"/>
          <p:nvPr/>
        </p:nvSpPr>
        <p:spPr>
          <a:xfrm>
            <a:off x="5416385" y="1445740"/>
            <a:ext cx="618978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Remember, this is for 1 ppb of Th contamination. It is likely we have a lot more than this. However, in a simulation, to get meaningful background distributions we certainly need many counts. So, if I calculate how many decays it takes to get 1 neutron, that will be a benchmark because if we simulated the neutrons as a volumetric source, there would be a neutron for every primary simulated event.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295725-28C8-4946-EFD1-7F9544CE78D8}"/>
              </a:ext>
            </a:extLst>
          </p:cNvPr>
          <p:cNvSpPr txBox="1"/>
          <p:nvPr/>
        </p:nvSpPr>
        <p:spPr>
          <a:xfrm>
            <a:off x="5416384" y="3639283"/>
            <a:ext cx="6189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will calculate it like this (the bottom number is just the number above in bold):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778075A-2CF2-F6DC-3D2A-FCBA2CC9150C}"/>
              </a:ext>
            </a:extLst>
          </p:cNvPr>
          <p:cNvCxnSpPr/>
          <p:nvPr/>
        </p:nvCxnSpPr>
        <p:spPr>
          <a:xfrm>
            <a:off x="5975498" y="4989763"/>
            <a:ext cx="490160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EE18D36-1900-A1E2-9473-27F5523D481D}"/>
              </a:ext>
            </a:extLst>
          </p:cNvPr>
          <p:cNvSpPr txBox="1"/>
          <p:nvPr/>
        </p:nvSpPr>
        <p:spPr>
          <a:xfrm>
            <a:off x="6613423" y="4516446"/>
            <a:ext cx="3285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Number of decays /s/cm</a:t>
            </a:r>
            <a:r>
              <a:rPr lang="en-US" baseline="30000" dirty="0"/>
              <a:t>3</a:t>
            </a:r>
            <a:r>
              <a:rPr lang="en-US" dirty="0"/>
              <a:t>/1ppb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3C868F-E717-4DA0-03B5-049EDC06195D}"/>
              </a:ext>
            </a:extLst>
          </p:cNvPr>
          <p:cNvSpPr txBox="1"/>
          <p:nvPr/>
        </p:nvSpPr>
        <p:spPr>
          <a:xfrm>
            <a:off x="6273868" y="5042928"/>
            <a:ext cx="4474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Number of produced neutrons /s/cm</a:t>
            </a:r>
            <a:r>
              <a:rPr lang="en-US" baseline="30000" dirty="0"/>
              <a:t>3</a:t>
            </a:r>
            <a:r>
              <a:rPr lang="en-US" dirty="0"/>
              <a:t>/1ppb</a:t>
            </a:r>
          </a:p>
        </p:txBody>
      </p:sp>
    </p:spTree>
    <p:extLst>
      <p:ext uri="{BB962C8B-B14F-4D97-AF65-F5344CB8AC3E}">
        <p14:creationId xmlns:p14="http://schemas.microsoft.com/office/powerpoint/2010/main" val="696816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B6BF2-C4A1-04C9-C693-3B8C74B61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41C59BE-B8B2-B7D9-5BE6-C72E6968AE6C}"/>
              </a:ext>
            </a:extLst>
          </p:cNvPr>
          <p:cNvSpPr txBox="1"/>
          <p:nvPr/>
        </p:nvSpPr>
        <p:spPr>
          <a:xfrm>
            <a:off x="5416386" y="588498"/>
            <a:ext cx="618978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Probably, the way one would simulate the Th progeny in Geant4 is to place a </a:t>
            </a:r>
            <a:r>
              <a:rPr lang="en-US" baseline="30000" dirty="0"/>
              <a:t>232</a:t>
            </a:r>
            <a:r>
              <a:rPr lang="en-US" dirty="0"/>
              <a:t>Th atom in the contaminated material at a random location, and, let it decay. All the subsequent daughter decays will be captured in that event, no matter what the half life.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F38DF6-F5A5-B362-EEBD-27875245A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47" y="588498"/>
            <a:ext cx="4041882" cy="36824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B77CE24-6870-79F7-64FA-EBFFCF8E00D0}"/>
              </a:ext>
            </a:extLst>
          </p:cNvPr>
          <p:cNvSpPr txBox="1"/>
          <p:nvPr/>
        </p:nvSpPr>
        <p:spPr>
          <a:xfrm>
            <a:off x="5416385" y="2429702"/>
            <a:ext cx="618978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practice, the </a:t>
            </a:r>
            <a:r>
              <a:rPr lang="en-US" dirty="0">
                <a:latin typeface="Symbol" pitchFamily="2" charset="2"/>
              </a:rPr>
              <a:t>a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-decays further down the chain will happen at the same rate as the Th decay, assuming secular equilibrium. That means for each Th decay there are a handful of </a:t>
            </a:r>
            <a:r>
              <a:rPr lang="en-US" dirty="0">
                <a:latin typeface="Symbol" pitchFamily="2" charset="2"/>
              </a:rPr>
              <a:t>a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-decays, each with the possibility of creating a neutron by the (</a:t>
            </a:r>
            <a:r>
              <a:rPr lang="en-US" dirty="0" err="1">
                <a:latin typeface="Symbol" pitchFamily="2" charset="2"/>
                <a:cs typeface="Calibri" panose="020F0502020204030204" pitchFamily="34" charset="0"/>
              </a:rPr>
              <a:t>a</a:t>
            </a:r>
            <a:r>
              <a:rPr lang="en-US" dirty="0" err="1">
                <a:latin typeface="Calibri" panose="020F0502020204030204" pitchFamily="34" charset="0"/>
                <a:cs typeface="Calibri" panose="020F0502020204030204" pitchFamily="34" charset="0"/>
              </a:rPr>
              <a:t>,n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) process. 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7CF379-DE66-982C-FA59-4CF6D75BBF31}"/>
              </a:ext>
            </a:extLst>
          </p:cNvPr>
          <p:cNvSpPr txBox="1"/>
          <p:nvPr/>
        </p:nvSpPr>
        <p:spPr>
          <a:xfrm>
            <a:off x="5416384" y="4270906"/>
            <a:ext cx="6189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half life for </a:t>
            </a:r>
            <a:r>
              <a:rPr lang="en-US" baseline="30000" dirty="0"/>
              <a:t>232</a:t>
            </a:r>
            <a:r>
              <a:rPr lang="en-US" dirty="0"/>
              <a:t>Th is </a:t>
            </a:r>
            <a:r>
              <a:rPr lang="en-US" b="1" dirty="0"/>
              <a:t>1.41x10</a:t>
            </a:r>
            <a:r>
              <a:rPr lang="en-US" b="1" baseline="30000" dirty="0"/>
              <a:t>10</a:t>
            </a:r>
            <a:r>
              <a:rPr lang="en-US" b="1" dirty="0"/>
              <a:t> y</a:t>
            </a:r>
            <a:r>
              <a:rPr lang="en-US" dirty="0"/>
              <a:t>, see left from </a:t>
            </a:r>
            <a:r>
              <a:rPr lang="en-US" dirty="0" err="1"/>
              <a:t>nndc.bnl.gov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9789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2EDC2-3740-82B5-E3B0-6702E5290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D784D08-29AC-2DD1-19C3-4FE8A1BD316D}"/>
              </a:ext>
            </a:extLst>
          </p:cNvPr>
          <p:cNvSpPr txBox="1"/>
          <p:nvPr/>
        </p:nvSpPr>
        <p:spPr>
          <a:xfrm>
            <a:off x="5341957" y="524702"/>
            <a:ext cx="6189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First, we want to find out how many Cu atoms in 1 cm</a:t>
            </a:r>
            <a:r>
              <a:rPr lang="en-US" baseline="30000" dirty="0"/>
              <a:t>3 </a:t>
            </a:r>
            <a:r>
              <a:rPr lang="en-US" dirty="0"/>
              <a:t>and then use 1 ppb to find the total number of Th atoms. Given that, we can find the number of decays in either 1 yr or 175 yrs (to give a certain level of neutrons). 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E3FF2D1-6F03-8391-3902-177B4D26B5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2234"/>
          <a:stretch>
            <a:fillRect/>
          </a:stretch>
        </p:blipFill>
        <p:spPr>
          <a:xfrm>
            <a:off x="487325" y="456846"/>
            <a:ext cx="3712535" cy="253637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2B77C76-0CB1-8262-A8E9-A06C5F1F8BF5}"/>
              </a:ext>
            </a:extLst>
          </p:cNvPr>
          <p:cNvSpPr txBox="1"/>
          <p:nvPr/>
        </p:nvSpPr>
        <p:spPr>
          <a:xfrm>
            <a:off x="5341957" y="2346886"/>
            <a:ext cx="61897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 amu is </a:t>
            </a:r>
            <a:r>
              <a:rPr lang="en-US" b="1" dirty="0"/>
              <a:t>1.674x10</a:t>
            </a:r>
            <a:r>
              <a:rPr lang="en-US" b="1" baseline="30000" dirty="0"/>
              <a:t>-24 </a:t>
            </a:r>
            <a:r>
              <a:rPr lang="en-US" b="1" dirty="0"/>
              <a:t>g </a:t>
            </a:r>
            <a:r>
              <a:rPr lang="en-US" dirty="0"/>
              <a:t>– I looked that up – it’s based on carbon atoms being exactly 12 amu. So, the density of Cu is </a:t>
            </a:r>
            <a:r>
              <a:rPr lang="en-US" b="1" dirty="0"/>
              <a:t>5.35x10</a:t>
            </a:r>
            <a:r>
              <a:rPr lang="en-US" b="1" baseline="30000" dirty="0"/>
              <a:t>24</a:t>
            </a:r>
            <a:r>
              <a:rPr lang="en-US" b="1" dirty="0"/>
              <a:t> amu/cm</a:t>
            </a:r>
            <a:r>
              <a:rPr lang="en-US" b="1" baseline="30000" dirty="0"/>
              <a:t>3</a:t>
            </a:r>
            <a:r>
              <a:rPr lang="en-US" dirty="0"/>
              <a:t>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A740E2-4ECE-33F0-CCE7-C8CAE2E249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4877"/>
          <a:stretch>
            <a:fillRect/>
          </a:stretch>
        </p:blipFill>
        <p:spPr>
          <a:xfrm>
            <a:off x="978629" y="3148138"/>
            <a:ext cx="2729925" cy="25363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9B71F83-DA43-1042-13C9-6370578F0FE1}"/>
              </a:ext>
            </a:extLst>
          </p:cNvPr>
          <p:cNvSpPr txBox="1"/>
          <p:nvPr/>
        </p:nvSpPr>
        <p:spPr>
          <a:xfrm>
            <a:off x="5341956" y="3587785"/>
            <a:ext cx="6189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copper atom is 63.5 amu. The number density of room temp. copper is therefore: </a:t>
            </a:r>
            <a:r>
              <a:rPr lang="en-US" b="1" dirty="0"/>
              <a:t>9.99x10</a:t>
            </a:r>
            <a:r>
              <a:rPr lang="en-US" b="1" baseline="30000" dirty="0"/>
              <a:t>22</a:t>
            </a:r>
            <a:r>
              <a:rPr lang="en-US" b="1" dirty="0"/>
              <a:t> atoms/cm</a:t>
            </a:r>
            <a:r>
              <a:rPr lang="en-US" b="1" baseline="30000" dirty="0"/>
              <a:t>3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323790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7BC8A-6346-8A70-D395-39E9863A7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0EC3E82-6FEB-9DBB-E2EB-391CB07FAE4E}"/>
              </a:ext>
            </a:extLst>
          </p:cNvPr>
          <p:cNvSpPr txBox="1"/>
          <p:nvPr/>
        </p:nvSpPr>
        <p:spPr>
          <a:xfrm>
            <a:off x="5416386" y="588498"/>
            <a:ext cx="61897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Based on the density of Cu, and the level of 1 ppb, the number of Th atoms present in 1 cm</a:t>
            </a:r>
            <a:r>
              <a:rPr lang="en-US" baseline="30000" dirty="0"/>
              <a:t>3</a:t>
            </a:r>
            <a:r>
              <a:rPr lang="en-US" dirty="0"/>
              <a:t> of copper is </a:t>
            </a:r>
            <a:r>
              <a:rPr lang="en-US" b="1" dirty="0"/>
              <a:t>9.99x10</a:t>
            </a:r>
            <a:r>
              <a:rPr lang="en-US" b="1" baseline="30000" dirty="0"/>
              <a:t>13</a:t>
            </a:r>
            <a:r>
              <a:rPr lang="en-US" b="1" dirty="0"/>
              <a:t> atoms/cm</a:t>
            </a:r>
            <a:r>
              <a:rPr lang="en-US" b="1" baseline="30000" dirty="0"/>
              <a:t>3</a:t>
            </a:r>
            <a:r>
              <a:rPr lang="en-US" dirty="0"/>
              <a:t>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BFFAD7-5D0E-2597-6481-83FBA8D03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47" y="588498"/>
            <a:ext cx="4041882" cy="368240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6892C94-2E45-D809-75CD-163E61B40C4A}"/>
                  </a:ext>
                </a:extLst>
              </p:cNvPr>
              <p:cNvSpPr txBox="1"/>
              <p:nvPr/>
            </p:nvSpPr>
            <p:spPr>
              <a:xfrm>
                <a:off x="5416385" y="1968037"/>
                <a:ext cx="6189785" cy="50400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Then, we can calculate the number of decays in a certain time from the radioactivity equation. </a:t>
                </a:r>
              </a:p>
              <a:p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b="0" dirty="0"/>
              </a:p>
              <a:p>
                <a:pPr algn="ctr"/>
                <a:endParaRPr lang="en-US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dirty="0"/>
                  <a:t>is the number of </a:t>
                </a:r>
                <a:r>
                  <a:rPr lang="en-US" b="0" dirty="0" err="1"/>
                  <a:t>deays</a:t>
                </a:r>
                <a:r>
                  <a:rPr lang="en-US" b="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b="0" dirty="0"/>
                  <a:t> is the original number of Th,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b="0" dirty="0"/>
                  <a:t> is the current number of Th. The radioactive law says:</a:t>
                </a:r>
              </a:p>
              <a:p>
                <a:endParaRPr lang="en-US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𝑙𝑛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m:rPr>
                                      <m:lit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b="0" dirty="0"/>
              </a:p>
              <a:p>
                <a:pPr algn="ctr"/>
                <a:endParaRPr lang="en-US" b="0" dirty="0"/>
              </a:p>
              <a:p>
                <a:r>
                  <a:rPr lang="en-US" b="0" dirty="0">
                    <a:cs typeface="Calibri" panose="020F0502020204030204" pitchFamily="34" charset="0"/>
                  </a:rPr>
                  <a:t>Or, putting it together:</a:t>
                </a:r>
              </a:p>
              <a:p>
                <a:endParaRPr lang="en-US" dirty="0">
                  <a:cs typeface="Calibri" panose="020F0502020204030204" pitchFamily="34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𝑑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1–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Calibri" panose="020F0502020204030204" pitchFamily="34" charset="0"/>
                            </a:rPr>
                            <m:t>𝑒𝑥𝑝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Calibri" panose="020F0502020204030204" pitchFamily="34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Calibri" panose="020F0502020204030204" pitchFamily="34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cs typeface="Calibri" panose="020F0502020204030204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Calibri" panose="020F0502020204030204" pitchFamily="34" charset="0"/>
                                    </a:rPr>
                                    <m:t>𝑙𝑛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2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cs typeface="Calibri" panose="020F0502020204030204" pitchFamily="34" charset="0"/>
                                    </a:rPr>
                                    <m:t>𝑡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𝜏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1</m:t>
                                      </m:r>
                                      <m:r>
                                        <m:rPr>
                                          <m:lit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/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cs typeface="Calibri" panose="020F0502020204030204" pitchFamily="34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d>
                    </m:oMath>
                  </m:oMathPara>
                </a14:m>
                <a:endParaRPr lang="en-US" b="0" dirty="0">
                  <a:cs typeface="Calibri" panose="020F0502020204030204" pitchFamily="34" charset="0"/>
                </a:endParaRPr>
              </a:p>
              <a:p>
                <a:endParaRPr lang="en-US" b="0" dirty="0">
                  <a:cs typeface="Calibri" panose="020F0502020204030204" pitchFamily="34" charset="0"/>
                </a:endParaRPr>
              </a:p>
              <a:p>
                <a:endParaRPr lang="en-US" b="0" dirty="0"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6892C94-2E45-D809-75CD-163E61B40C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6385" y="1968037"/>
                <a:ext cx="6189785" cy="5040098"/>
              </a:xfrm>
              <a:prstGeom prst="rect">
                <a:avLst/>
              </a:prstGeom>
              <a:blipFill>
                <a:blip r:embed="rId3"/>
                <a:stretch>
                  <a:fillRect l="-820" t="-7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6836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FE181-D515-A29F-ED10-47B118DB3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E56BEEC-8E45-2C85-699B-D9795AB7DD44}"/>
              </a:ext>
            </a:extLst>
          </p:cNvPr>
          <p:cNvSpPr txBox="1"/>
          <p:nvPr/>
        </p:nvSpPr>
        <p:spPr>
          <a:xfrm>
            <a:off x="5416386" y="588498"/>
            <a:ext cx="63182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1 yr the exponential factor in the parentheses is </a:t>
            </a:r>
            <a:r>
              <a:rPr lang="en-US" b="1" dirty="0"/>
              <a:t>4.92x10</a:t>
            </a:r>
            <a:r>
              <a:rPr lang="en-US" b="1" baseline="30000" dirty="0"/>
              <a:t>-11</a:t>
            </a:r>
            <a:r>
              <a:rPr lang="en-US" dirty="0"/>
              <a:t> and for 175 yrs it is </a:t>
            </a:r>
            <a:r>
              <a:rPr lang="en-US" b="1" dirty="0"/>
              <a:t>8.60x10</a:t>
            </a:r>
            <a:r>
              <a:rPr lang="en-US" b="1" baseline="30000" dirty="0"/>
              <a:t>-9</a:t>
            </a:r>
            <a:r>
              <a:rPr lang="en-US" dirty="0"/>
              <a:t>. 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F7D99C1-32B5-4151-FDCF-DBE44C8A02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47" y="588498"/>
            <a:ext cx="4041882" cy="368240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CD87A92-0CB3-4434-00DB-F5305AE7EF13}"/>
              </a:ext>
            </a:extLst>
          </p:cNvPr>
          <p:cNvSpPr txBox="1"/>
          <p:nvPr/>
        </p:nvSpPr>
        <p:spPr>
          <a:xfrm>
            <a:off x="5416386" y="1783371"/>
            <a:ext cx="63182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1 yr of livetime we need to simulate </a:t>
            </a:r>
            <a:r>
              <a:rPr lang="en-US" b="1" dirty="0"/>
              <a:t>4,911 decays in every cm</a:t>
            </a:r>
            <a:r>
              <a:rPr lang="en-US" b="1" baseline="30000" dirty="0"/>
              <a:t>3</a:t>
            </a:r>
            <a:r>
              <a:rPr lang="en-US" dirty="0"/>
              <a:t>. But to get 1 neutron out of each cm</a:t>
            </a:r>
            <a:r>
              <a:rPr lang="en-US" baseline="30000" dirty="0"/>
              <a:t>3</a:t>
            </a:r>
            <a:r>
              <a:rPr lang="en-US" dirty="0"/>
              <a:t> we need to simulate </a:t>
            </a:r>
            <a:r>
              <a:rPr lang="en-US" b="1" dirty="0"/>
              <a:t>859,429 decays in every cm</a:t>
            </a:r>
            <a:r>
              <a:rPr lang="en-US" b="1" baseline="30000" dirty="0"/>
              <a:t>3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295437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8F42C-1BA4-F841-CD9A-1C65E60D3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625F8CD-3448-BD23-75DE-A52867218956}"/>
              </a:ext>
            </a:extLst>
          </p:cNvPr>
          <p:cNvSpPr txBox="1"/>
          <p:nvPr/>
        </p:nvSpPr>
        <p:spPr>
          <a:xfrm>
            <a:off x="5416386" y="588498"/>
            <a:ext cx="63182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Spontaneous fission is also a contributor to neutrons. Th has somewhat little S.F. but </a:t>
            </a:r>
            <a:r>
              <a:rPr lang="en-US" baseline="30000" dirty="0"/>
              <a:t>238</a:t>
            </a:r>
            <a:r>
              <a:rPr lang="en-US" dirty="0"/>
              <a:t>U has a lot more (see left, branching of </a:t>
            </a:r>
            <a:r>
              <a:rPr lang="en-US" b="1" dirty="0"/>
              <a:t>5.4x10</a:t>
            </a:r>
            <a:r>
              <a:rPr lang="en-US" b="1" baseline="30000" dirty="0"/>
              <a:t>-5</a:t>
            </a:r>
            <a:r>
              <a:rPr lang="en-US" b="1" dirty="0"/>
              <a:t> % </a:t>
            </a:r>
            <a:r>
              <a:rPr lang="en-US" dirty="0"/>
              <a:t>compare with </a:t>
            </a:r>
            <a:r>
              <a:rPr lang="en-US" b="1" dirty="0"/>
              <a:t>~10</a:t>
            </a:r>
            <a:r>
              <a:rPr lang="en-US" b="1" baseline="30000" dirty="0"/>
              <a:t>-9</a:t>
            </a:r>
            <a:r>
              <a:rPr lang="en-US" b="1" dirty="0"/>
              <a:t> % </a:t>
            </a:r>
            <a:r>
              <a:rPr lang="en-US" dirty="0"/>
              <a:t>for Th).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19849FA-65CD-FD19-EA1B-1160777C85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347" y="446568"/>
            <a:ext cx="3879573" cy="385090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081D424-B0DC-F8D9-6025-D768A9931FD7}"/>
              </a:ext>
            </a:extLst>
          </p:cNvPr>
          <p:cNvSpPr txBox="1"/>
          <p:nvPr/>
        </p:nvSpPr>
        <p:spPr>
          <a:xfrm>
            <a:off x="5416386" y="1920989"/>
            <a:ext cx="63182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fact, our </a:t>
            </a:r>
            <a:r>
              <a:rPr lang="en-US" dirty="0" err="1"/>
              <a:t>radiogenics</a:t>
            </a:r>
            <a:r>
              <a:rPr lang="en-US" dirty="0"/>
              <a:t> are probably dominated by this one. This potentially could be done natively in </a:t>
            </a:r>
            <a:r>
              <a:rPr lang="en-US" dirty="0" err="1"/>
              <a:t>SuperSim</a:t>
            </a:r>
            <a:r>
              <a:rPr lang="en-US" dirty="0"/>
              <a:t> as well, if G4 has accurate S.F. simulation. I want to estimate how many decays we need for this one. </a:t>
            </a:r>
          </a:p>
        </p:txBody>
      </p:sp>
    </p:spTree>
    <p:extLst>
      <p:ext uri="{BB962C8B-B14F-4D97-AF65-F5344CB8AC3E}">
        <p14:creationId xmlns:p14="http://schemas.microsoft.com/office/powerpoint/2010/main" val="18878071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5F615-3B31-3209-18A0-8C6F1F4A6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a graph of energy&#10;&#10;AI-generated content may be incorrect.">
            <a:extLst>
              <a:ext uri="{FF2B5EF4-FFF2-40B4-BE49-F238E27FC236}">
                <a16:creationId xmlns:a16="http://schemas.microsoft.com/office/drawing/2014/main" id="{90C2727B-E378-C1E6-EB27-EA15C1913E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67" y="559446"/>
            <a:ext cx="4426837" cy="39234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B75844F-F5DB-D2A7-2868-846F56A223D0}"/>
              </a:ext>
            </a:extLst>
          </p:cNvPr>
          <p:cNvSpPr txBox="1"/>
          <p:nvPr/>
        </p:nvSpPr>
        <p:spPr>
          <a:xfrm>
            <a:off x="5416386" y="588498"/>
            <a:ext cx="61897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Integrating this spectrum, I get a total volumetric source rate of </a:t>
            </a:r>
            <a:r>
              <a:rPr lang="en-US" b="1" dirty="0"/>
              <a:t>3.41x10</a:t>
            </a:r>
            <a:r>
              <a:rPr lang="en-US" b="1" baseline="30000" dirty="0"/>
              <a:t>-9</a:t>
            </a:r>
            <a:r>
              <a:rPr lang="en-US" b="1" dirty="0"/>
              <a:t> neutrons/s/cm</a:t>
            </a:r>
            <a:r>
              <a:rPr lang="en-US" b="1" baseline="30000" dirty="0"/>
              <a:t>3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9269344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1462</TotalTime>
  <Words>745</Words>
  <Application>Microsoft Macintosh PowerPoint</Application>
  <PresentationFormat>Widescreen</PresentationFormat>
  <Paragraphs>32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Cambria Math</vt:lpstr>
      <vt:lpstr>Symbol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Villano, Anthony N</dc:creator>
  <cp:lastModifiedBy>Villano, Anthony N</cp:lastModifiedBy>
  <cp:revision>52</cp:revision>
  <dcterms:created xsi:type="dcterms:W3CDTF">2026-01-28T22:42:52Z</dcterms:created>
  <dcterms:modified xsi:type="dcterms:W3CDTF">2026-01-29T23:05:39Z</dcterms:modified>
</cp:coreProperties>
</file>